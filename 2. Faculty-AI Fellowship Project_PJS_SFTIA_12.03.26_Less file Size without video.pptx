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6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0" y="84"/>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00788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7.xml"/><Relationship Id="rId7" Type="http://schemas.openxmlformats.org/officeDocument/2006/relationships/image" Target="../media/image17.png"/><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4895757" y="4154435"/>
            <a:ext cx="1633432" cy="154209"/>
          </a:xfrm>
          <a:prstGeom prst="rect">
            <a:avLst/>
          </a:prstGeom>
        </p:spPr>
        <p:txBody>
          <a:bodyPr wrap="square"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 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4911774" y="4294825"/>
            <a:ext cx="1394175"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Dr. </a:t>
            </a:r>
            <a:r>
              <a:rPr lang="en-US" sz="1200" b="1" dirty="0" err="1">
                <a:solidFill>
                  <a:srgbClr val="0D358D"/>
                </a:solidFill>
                <a:latin typeface="Arial" panose="020B0604020202020204" pitchFamily="34" charset="0"/>
                <a:ea typeface="Aileron Bold"/>
                <a:cs typeface="Arial" panose="020B0604020202020204" pitchFamily="34" charset="0"/>
                <a:sym typeface="Aileron Bold"/>
              </a:rPr>
              <a:t>Payal</a:t>
            </a:r>
            <a:r>
              <a:rPr lang="en-US" sz="1200" b="1" dirty="0">
                <a:solidFill>
                  <a:srgbClr val="0D358D"/>
                </a:solidFill>
                <a:latin typeface="Arial" panose="020B0604020202020204" pitchFamily="34" charset="0"/>
                <a:ea typeface="Aileron Bold"/>
                <a:cs typeface="Arial" panose="020B0604020202020204" pitchFamily="34" charset="0"/>
                <a:sym typeface="Aileron Bold"/>
              </a:rPr>
              <a:t> Shastri</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489252" y="4149688"/>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2628833" y="4341881"/>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2519183" y="4493255"/>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payal.shastri@hlcollege.edu</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141340" y="4235613"/>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08644"/>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Adarsh Sir</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graphicFrame>
        <p:nvGraphicFramePr>
          <p:cNvPr id="26" name="Table 25">
            <a:extLst>
              <a:ext uri="{FF2B5EF4-FFF2-40B4-BE49-F238E27FC236}">
                <a16:creationId xmlns:a16="http://schemas.microsoft.com/office/drawing/2014/main" id="{C81DED0E-8121-4A62-5E99-A69B8B50AA1B}"/>
              </a:ext>
            </a:extLst>
          </p:cNvPr>
          <p:cNvGraphicFramePr>
            <a:graphicFrameLocks noGrp="1"/>
          </p:cNvGraphicFramePr>
          <p:nvPr>
            <p:extLst>
              <p:ext uri="{D42A27DB-BD31-4B8C-83A1-F6EECF244321}">
                <p14:modId xmlns:p14="http://schemas.microsoft.com/office/powerpoint/2010/main" val="3598144164"/>
              </p:ext>
            </p:extLst>
          </p:nvPr>
        </p:nvGraphicFramePr>
        <p:xfrm>
          <a:off x="4663" y="3463064"/>
          <a:ext cx="6491078" cy="518160"/>
        </p:xfrm>
        <a:graphic>
          <a:graphicData uri="http://schemas.openxmlformats.org/drawingml/2006/table">
            <a:tbl>
              <a:tblPr>
                <a:tableStyleId>{2D5ABB26-0587-4C30-8999-92F81FD0307C}</a:tableStyleId>
              </a:tblPr>
              <a:tblGrid>
                <a:gridCol w="6491078">
                  <a:extLst>
                    <a:ext uri="{9D8B030D-6E8A-4147-A177-3AD203B41FA5}">
                      <a16:colId xmlns:a16="http://schemas.microsoft.com/office/drawing/2014/main" val="3438802165"/>
                    </a:ext>
                  </a:extLst>
                </a:gridCol>
              </a:tblGrid>
              <a:tr h="370840">
                <a:tc>
                  <a:txBody>
                    <a:bodyPr/>
                    <a:lstStyle/>
                    <a:p>
                      <a:r>
                        <a:rPr lang="en-IN" sz="1400" b="1" kern="1200" dirty="0">
                          <a:solidFill>
                            <a:srgbClr val="0D358D"/>
                          </a:solidFill>
                          <a:latin typeface="Arial" panose="020B0604020202020204" pitchFamily="34" charset="0"/>
                          <a:cs typeface="Arial" panose="020B0604020202020204" pitchFamily="34" charset="0"/>
                        </a:rPr>
                        <a:t>Project Title: </a:t>
                      </a:r>
                      <a:r>
                        <a:rPr lang="en-IN" sz="1400" b="1" u="sng" kern="1200" dirty="0">
                          <a:solidFill>
                            <a:srgbClr val="FFC000"/>
                          </a:solidFill>
                          <a:latin typeface="Arial" panose="020B0604020202020204" pitchFamily="34" charset="0"/>
                          <a:ea typeface="+mn-ea"/>
                          <a:cs typeface="Arial" panose="020B0604020202020204" pitchFamily="34" charset="0"/>
                        </a:rPr>
                        <a:t>Closing the Feedback Loop: An Intelligent Student </a:t>
                      </a:r>
                    </a:p>
                    <a:p>
                      <a:r>
                        <a:rPr lang="en-IN" sz="1400" b="1" u="sng" kern="1200" dirty="0">
                          <a:solidFill>
                            <a:srgbClr val="FFC000"/>
                          </a:solidFill>
                          <a:latin typeface="Arial" panose="020B0604020202020204" pitchFamily="34" charset="0"/>
                          <a:ea typeface="+mn-ea"/>
                          <a:cs typeface="Arial" panose="020B0604020202020204" pitchFamily="34" charset="0"/>
                        </a:rPr>
                        <a:t>Feedback and Teaching Improvement System (SFTIA)</a:t>
                      </a:r>
                    </a:p>
                  </a:txBody>
                  <a:tcPr/>
                </a:tc>
                <a:extLst>
                  <a:ext uri="{0D108BD9-81ED-4DB2-BD59-A6C34878D82A}">
                    <a16:rowId xmlns:a16="http://schemas.microsoft.com/office/drawing/2014/main" val="2841395308"/>
                  </a:ext>
                </a:extLst>
              </a:tr>
            </a:tbl>
          </a:graphicData>
        </a:graphic>
      </p:graphicFrame>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500" b="1" dirty="0">
                <a:solidFill>
                  <a:srgbClr val="1B3A8A"/>
                </a:solidFill>
                <a:latin typeface="Arial" panose="020B0604020202020204" pitchFamily="34" charset="0"/>
                <a:ea typeface="Calibri" pitchFamily="34" charset="-122"/>
                <a:cs typeface="Arial" panose="020B0604020202020204" pitchFamily="34" charset="0"/>
              </a:rPr>
              <a:t>Outline</a:t>
            </a:r>
            <a:endParaRPr lang="en-US" sz="2500" dirty="0">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chemeClr val="tx1"/>
                </a:solidFill>
                <a:effectLst/>
                <a:latin typeface="+mj-lt"/>
                <a:ea typeface="Times New Roman" panose="02020603050405020304" pitchFamily="18" charset="0"/>
                <a:cs typeface="Arial" panose="020B0604020202020204" pitchFamily="34" charset="0"/>
              </a:rPr>
              <a:t>Abstract of the Project</a:t>
            </a:r>
            <a:endParaRPr lang="en-IN" sz="1800" b="1" dirty="0">
              <a:solidFill>
                <a:schemeClr val="tx1"/>
              </a:solidFill>
              <a:latin typeface="+mj-lt"/>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b="1" dirty="0">
                <a:latin typeface="+mj-lt"/>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b="1" dirty="0">
                <a:latin typeface="+mj-lt"/>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b="1" dirty="0">
                <a:latin typeface="+mj-lt"/>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b="1" dirty="0">
                <a:latin typeface="+mj-lt"/>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b="1" dirty="0">
                <a:latin typeface="+mj-lt"/>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b="1" dirty="0">
                <a:latin typeface="+mj-lt"/>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b="1" dirty="0">
                <a:latin typeface="+mj-lt"/>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500" b="1" dirty="0">
                <a:solidFill>
                  <a:srgbClr val="1B3A8A"/>
                </a:solidFill>
                <a:latin typeface="Arial" panose="020B0604020202020204" pitchFamily="34" charset="0"/>
                <a:ea typeface="Calibri" pitchFamily="34" charset="-122"/>
                <a:cs typeface="Arial" panose="020B0604020202020204" pitchFamily="34" charset="0"/>
              </a:rPr>
              <a:t>Abstract</a:t>
            </a:r>
            <a:endParaRPr lang="en-US" sz="2500" dirty="0">
              <a:latin typeface="Arial" panose="020B0604020202020204" pitchFamily="34" charset="0"/>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6597650" y="1534620"/>
            <a:ext cx="2603120" cy="2708149"/>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 name="Rectangle 2">
            <a:extLst>
              <a:ext uri="{FF2B5EF4-FFF2-40B4-BE49-F238E27FC236}">
                <a16:creationId xmlns:a16="http://schemas.microsoft.com/office/drawing/2014/main" id="{BB24AA35-5CBC-4CE6-B091-91736225AC9D}"/>
              </a:ext>
            </a:extLst>
          </p:cNvPr>
          <p:cNvSpPr/>
          <p:nvPr/>
        </p:nvSpPr>
        <p:spPr>
          <a:xfrm>
            <a:off x="140079" y="1082801"/>
            <a:ext cx="6457571" cy="3539430"/>
          </a:xfrm>
          <a:prstGeom prst="rect">
            <a:avLst/>
          </a:prstGeom>
        </p:spPr>
        <p:txBody>
          <a:bodyPr wrap="square">
            <a:spAutoFit/>
          </a:bodyPr>
          <a:lstStyle/>
          <a:p>
            <a:pPr marL="285750" indent="-285750" algn="just">
              <a:buFont typeface="Wingdings" panose="05000000000000000000" pitchFamily="2" charset="2"/>
              <a:buChar char="Ø"/>
            </a:pPr>
            <a:r>
              <a:rPr lang="en-IN" sz="1400" dirty="0"/>
              <a:t>This project is an </a:t>
            </a:r>
            <a:r>
              <a:rPr lang="en-IN" sz="1400" b="1" dirty="0"/>
              <a:t>End-to-end Faculty Feedback and Analytics System </a:t>
            </a:r>
            <a:r>
              <a:rPr lang="en-IN" sz="1400" dirty="0"/>
              <a:t>for the feedback received for 200 students’ responses, for 8 faculties, across 3 Courses and 10 parameters. </a:t>
            </a:r>
          </a:p>
          <a:p>
            <a:pPr marL="285750" indent="-285750" algn="just">
              <a:buFont typeface="Wingdings" panose="05000000000000000000" pitchFamily="2" charset="2"/>
              <a:buChar char="Ø"/>
            </a:pPr>
            <a:r>
              <a:rPr lang="en-IN" sz="1400" dirty="0"/>
              <a:t>The objective of this project is </a:t>
            </a:r>
            <a:r>
              <a:rPr lang="en-IN" sz="1400" b="1" dirty="0"/>
              <a:t>to transform the raw feedback data into actionable and interpretable academic intelligence through data processing, visual analytics, and AI interaction by democratise feedback access for faculty, admin, students.</a:t>
            </a:r>
          </a:p>
          <a:p>
            <a:pPr marL="285750" indent="-285750" algn="just">
              <a:buFont typeface="Wingdings" panose="05000000000000000000" pitchFamily="2" charset="2"/>
              <a:buChar char="Ø"/>
            </a:pPr>
            <a:r>
              <a:rPr lang="en-IN" sz="1400" dirty="0"/>
              <a:t>The tools and Techniques used for this project is - </a:t>
            </a:r>
            <a:r>
              <a:rPr lang="en-IN" sz="1400" b="1" dirty="0"/>
              <a:t>Microsoft Excel </a:t>
            </a:r>
            <a:r>
              <a:rPr lang="en-IN" sz="1400" dirty="0"/>
              <a:t>for data pre-processing &amp; 4-sheet analytics workbook and </a:t>
            </a:r>
            <a:r>
              <a:rPr lang="en-IN" sz="1400" b="1" dirty="0"/>
              <a:t>Microsoft </a:t>
            </a:r>
            <a:r>
              <a:rPr lang="en-IN" sz="1400" b="1" dirty="0" err="1"/>
              <a:t>Copilot</a:t>
            </a:r>
            <a:r>
              <a:rPr lang="en-IN" sz="1400" b="1" dirty="0"/>
              <a:t> Studio </a:t>
            </a:r>
            <a:r>
              <a:rPr lang="en-IN" sz="1400" dirty="0"/>
              <a:t>- AI chatbot for </a:t>
            </a:r>
            <a:r>
              <a:rPr lang="en-IN" sz="1400" b="1" dirty="0"/>
              <a:t>Information Layer </a:t>
            </a:r>
            <a:r>
              <a:rPr lang="en-IN" sz="1400" dirty="0"/>
              <a:t>and </a:t>
            </a:r>
            <a:r>
              <a:rPr lang="en-IN" sz="1400" b="1" dirty="0"/>
              <a:t>Suggestions Layer.</a:t>
            </a:r>
          </a:p>
          <a:p>
            <a:pPr marL="285750" indent="-285750" algn="just">
              <a:buFont typeface="Wingdings" panose="05000000000000000000" pitchFamily="2" charset="2"/>
              <a:buChar char="Ø"/>
            </a:pPr>
            <a:r>
              <a:rPr lang="en-IN" sz="1400" dirty="0"/>
              <a:t>The Expected outcome of this project is - </a:t>
            </a:r>
            <a:r>
              <a:rPr lang="en-IN" sz="1400" b="1" u="sng" dirty="0"/>
              <a:t>Interactive Excel dashboard for better data interpretations</a:t>
            </a:r>
            <a:r>
              <a:rPr lang="en-IN" sz="1400" b="1" dirty="0"/>
              <a:t>, </a:t>
            </a:r>
            <a:r>
              <a:rPr lang="en-IN" sz="1400" b="1" u="sng" dirty="0"/>
              <a:t>AI chatbot for answering scores + comment queries in simple &amp; plain language </a:t>
            </a:r>
            <a:r>
              <a:rPr lang="en-IN" sz="1400" b="1" dirty="0"/>
              <a:t>as well as </a:t>
            </a:r>
            <a:r>
              <a:rPr lang="en-IN" sz="1400" b="1" u="sng" dirty="0"/>
              <a:t>a Faculty suggestions module </a:t>
            </a:r>
            <a:r>
              <a:rPr lang="en-IN" sz="1400" b="1" dirty="0"/>
              <a:t>with personalised improvement plans which can extend upto 30 days faculty improvement plans. </a:t>
            </a:r>
          </a:p>
          <a:p>
            <a:pPr marL="285750" indent="-285750" algn="just">
              <a:buFont typeface="Wingdings" panose="05000000000000000000" pitchFamily="2" charset="2"/>
              <a:buChar char="Ø"/>
            </a:pPr>
            <a:r>
              <a:rPr lang="en-IN" sz="1400" dirty="0"/>
              <a:t>The key highlights of this project is </a:t>
            </a:r>
            <a:r>
              <a:rPr lang="en-IN" sz="1400" b="1" dirty="0"/>
              <a:t>“A Smart Architecture with Excel Dashboards + Chatbot AI.”</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6687715" y="873760"/>
            <a:ext cx="2411834" cy="3499457"/>
          </a:xfrm>
          <a:prstGeom prst="rect">
            <a:avLst/>
          </a:prstGeom>
        </p:spPr>
      </p:pic>
      <p:sp>
        <p:nvSpPr>
          <p:cNvPr id="4" name="Text 2"/>
          <p:cNvSpPr/>
          <p:nvPr/>
        </p:nvSpPr>
        <p:spPr>
          <a:xfrm>
            <a:off x="120623" y="43484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44451" y="957798"/>
            <a:ext cx="6696980" cy="3785652"/>
          </a:xfrm>
          <a:prstGeom prst="rect">
            <a:avLst/>
          </a:prstGeom>
          <a:noFill/>
        </p:spPr>
        <p:txBody>
          <a:bodyPr wrap="square">
            <a:spAutoFit/>
          </a:bodyPr>
          <a:lstStyle/>
          <a:p>
            <a:pPr marL="285750" indent="-285750" algn="just">
              <a:buFont typeface="Wingdings" panose="05000000000000000000" pitchFamily="2" charset="2"/>
              <a:buChar char="Ø"/>
            </a:pPr>
            <a:r>
              <a:rPr lang="en-US" sz="1600" dirty="0"/>
              <a:t>The core problem is - Student feedback data is scattered &amp; remains unused after collection - institutions collect hundreds of responses per semester but lack tools to extract meaningful insight from them. Feedback is stored in Excel with no visualization, and no connection to faculty improvement planning. Qualitative comments are completely ignored - never read, categorized, or acted upon at scale.</a:t>
            </a:r>
          </a:p>
          <a:p>
            <a:pPr marL="285750" indent="-285750" algn="just">
              <a:buFont typeface="Wingdings" panose="05000000000000000000" pitchFamily="2" charset="2"/>
              <a:buChar char="Ø"/>
            </a:pPr>
            <a:r>
              <a:rPr lang="en-US" sz="1600" dirty="0"/>
              <a:t>This is significant because the massive volume of actionable data that is currently untouched, without analysis; weak faculty go unsupported, strong faculty go unrecognized, and institutional teaching quality stagnates semester after semester. </a:t>
            </a:r>
          </a:p>
          <a:p>
            <a:pPr marL="285750" indent="-285750" algn="just">
              <a:buFont typeface="Wingdings" panose="05000000000000000000" pitchFamily="2" charset="2"/>
              <a:buChar char="Ø"/>
            </a:pPr>
            <a:r>
              <a:rPr lang="en-US" sz="1600" dirty="0"/>
              <a:t>Faculty members receive no structured feedback on specific teaching dimensions or improvement pathways. Academic administrators make appraisal decisions without objective, data-backed evidence. External stakeholders such as: accreditation bodies &amp; industry partners get transparent view of teaching quality metrics</a:t>
            </a:r>
          </a:p>
        </p:txBody>
      </p:sp>
    </p:spTree>
    <p:custDataLst>
      <p:tags r:id="rId1"/>
    </p:custDataLst>
    <p:extLst>
      <p:ext uri="{BB962C8B-B14F-4D97-AF65-F5344CB8AC3E}">
        <p14:creationId xmlns:p14="http://schemas.microsoft.com/office/powerpoint/2010/main" val="3976058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6664568" y="564825"/>
            <a:ext cx="2353946" cy="2017668"/>
          </a:xfrm>
          <a:prstGeom prst="rect">
            <a:avLst/>
          </a:prstGeom>
        </p:spPr>
      </p:pic>
      <p:sp>
        <p:nvSpPr>
          <p:cNvPr id="4" name="Text 2"/>
          <p:cNvSpPr/>
          <p:nvPr/>
        </p:nvSpPr>
        <p:spPr>
          <a:xfrm>
            <a:off x="117534" y="46889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17533" y="834390"/>
            <a:ext cx="7070445" cy="4309110"/>
          </a:xfrm>
          <a:prstGeom prst="rect">
            <a:avLst/>
          </a:prstGeom>
          <a:noFill/>
          <a:ln/>
        </p:spPr>
        <p:txBody>
          <a:bodyPr wrap="square" rtlCol="0" anchor="t"/>
          <a:lstStyle/>
          <a:p>
            <a:pPr algn="just"/>
            <a:r>
              <a:rPr lang="en-US" dirty="0"/>
              <a:t>The solution is </a:t>
            </a:r>
            <a:r>
              <a:rPr lang="en-US" b="1" dirty="0"/>
              <a:t>a three-tier intelligent analytics system </a:t>
            </a:r>
            <a:r>
              <a:rPr lang="en-US" dirty="0"/>
              <a:t>- combining structured data analytics, interactive visual dashboards, and an AI-powered conversational agent to transform raw student feedback into real-time, actionable academic intelligence</a:t>
            </a:r>
          </a:p>
          <a:p>
            <a:pPr algn="just"/>
            <a:endParaRPr lang="en-US" sz="1000" b="1" dirty="0"/>
          </a:p>
          <a:p>
            <a:pPr algn="just"/>
            <a:r>
              <a:rPr lang="en-US" b="1" dirty="0"/>
              <a:t>Tier 1 </a:t>
            </a:r>
            <a:r>
              <a:rPr lang="en-US" dirty="0"/>
              <a:t>-  Excel Analytics: Pre-processed dataset of responses across 6 structured sheets - faculty performance matrix, course-wise scores, year-wise and semester-wise comparison tables with delta indicators</a:t>
            </a:r>
          </a:p>
          <a:p>
            <a:pPr algn="just"/>
            <a:r>
              <a:rPr lang="en-US" b="1" dirty="0"/>
              <a:t>Tier 2 </a:t>
            </a:r>
            <a:r>
              <a:rPr lang="en-US" dirty="0"/>
              <a:t>- AI Chatbot (Copilot Studio): Natural language agent trained on all CSV data files - answers both quantitative queries (scores, rankings) and qualitative queries (comment summaries, sentiment breakdowns).</a:t>
            </a:r>
          </a:p>
          <a:p>
            <a:r>
              <a:rPr lang="en-US" b="1" dirty="0"/>
              <a:t>Tier 3 </a:t>
            </a:r>
            <a:r>
              <a:rPr lang="en-US" dirty="0"/>
              <a:t>- AI Chatbot (Copilot Studio) - Coaching Layer: When a faculty member asks about their feedback, the bot automatically identifies weak areas, asks "Would you like improvement suggestions?", and delivers 4–5 specific, classroom-ready improvement strategies per weak dimension.</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algn="just"/>
            <a:r>
              <a:rPr lang="en-IN" sz="1300" dirty="0"/>
              <a:t>200 student feedback responses (CSV), Excel workbook –10 quantitative score, Qualitative student comments with sentiment labels, faculty name, type of faculty, type of courses - </a:t>
            </a:r>
            <a:r>
              <a:rPr lang="en-IN" sz="1300" dirty="0" err="1"/>
              <a:t>B.Com</a:t>
            </a:r>
            <a:r>
              <a:rPr lang="en-IN" sz="1300" dirty="0"/>
              <a:t>, BBA, BCA, two years, and four semester.	</a:t>
            </a: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algn="just"/>
            <a:r>
              <a:rPr lang="en-IN" sz="1300" dirty="0"/>
              <a:t>Data cleaning and Custom column: </a:t>
            </a:r>
            <a:r>
              <a:rPr lang="en-IN" sz="1300" dirty="0" err="1"/>
              <a:t>Average_Score</a:t>
            </a:r>
            <a:r>
              <a:rPr lang="en-IN" sz="1300" dirty="0"/>
              <a:t> across all 10 dimensions; Sentiment classification: Positive / Negative tagging; Comment categorisation across 13 categories and all dimensions; Year-wise and semester-wise delta calculations (</a:t>
            </a:r>
            <a:r>
              <a:rPr lang="el-GR" sz="1300" dirty="0"/>
              <a:t>Δ </a:t>
            </a:r>
            <a:r>
              <a:rPr lang="en-IN" sz="1300" dirty="0"/>
              <a:t>scores) for comparison.</a:t>
            </a: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algn="just"/>
            <a:r>
              <a:rPr lang="en-IN" sz="1300" dirty="0"/>
              <a:t>Microsoft Excel - interactive dashboard; Microsoft Co-pilot Studio - AI conversational agent</a:t>
            </a:r>
          </a:p>
          <a:p>
            <a:pPr algn="just"/>
            <a:r>
              <a:rPr lang="en-IN" sz="1300" dirty="0"/>
              <a:t>3 CSV knowledge sources uploaded to Co-pilot Studio</a:t>
            </a:r>
          </a:p>
          <a:p>
            <a:pPr algn="just"/>
            <a:r>
              <a:rPr lang="en-IN" sz="1300" dirty="0"/>
              <a:t>for creating Coaching layer: weak area detection + suggestion engine.</a:t>
            </a: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415288"/>
          </a:xfrm>
          <a:prstGeom prst="rect">
            <a:avLst/>
          </a:prstGeom>
          <a:noFill/>
          <a:ln/>
        </p:spPr>
        <p:txBody>
          <a:bodyPr wrap="square" rtlCol="0" anchor="t"/>
          <a:lstStyle/>
          <a:p>
            <a:pPr algn="just"/>
            <a:r>
              <a:rPr lang="en-IN" sz="1300" dirty="0"/>
              <a:t>AI Chatbot: natural language answers to any feedback query.</a:t>
            </a:r>
          </a:p>
          <a:p>
            <a:pPr algn="just"/>
            <a:r>
              <a:rPr lang="en-IN" sz="1300" dirty="0"/>
              <a:t>Faculty coaching: personalised 30-day improvement plans.</a:t>
            </a:r>
          </a:p>
          <a:p>
            <a:pPr algn="just"/>
            <a:r>
              <a:rPr lang="en-IN" sz="1300" dirty="0"/>
              <a:t>Export: PDF snapshots + Power BI Service shareable link</a:t>
            </a:r>
          </a:p>
          <a:p>
            <a:pPr algn="just"/>
            <a:r>
              <a:rPr lang="en-IN" sz="1300" dirty="0"/>
              <a:t>Audience: faculty, admin, students, external stakeholders</a:t>
            </a:r>
          </a:p>
          <a:p>
            <a:pPr algn="just"/>
            <a:br>
              <a:rPr lang="en-IN" sz="1300" dirty="0"/>
            </a:br>
            <a:endParaRPr lang="en-US" sz="13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606033" y="1373888"/>
            <a:ext cx="2105361" cy="1371600"/>
          </a:xfrm>
          <a:prstGeom prst="ellipse">
            <a:avLst/>
          </a:prstGeom>
          <a:solidFill>
            <a:srgbClr val="1565C0"/>
          </a:solidFill>
          <a:ln w="38100">
            <a:solidFill>
              <a:srgbClr val="FFFFFF"/>
            </a:solidFill>
            <a:prstDash val="solid"/>
          </a:ln>
        </p:spPr>
        <p:txBody>
          <a:bodyPr/>
          <a:lstStyle/>
          <a:p>
            <a:pPr algn="ctr"/>
            <a:r>
              <a:rPr lang="en-IN" dirty="0">
                <a:solidFill>
                  <a:schemeClr val="bg1"/>
                </a:solidFill>
                <a:latin typeface="Lato" panose="020F0502020204030203" pitchFamily="34" charset="0"/>
              </a:rPr>
              <a:t>Excel Dashboard</a:t>
            </a: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7"/>
            <a:ext cx="2514600" cy="1928799"/>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703320" y="1372087"/>
            <a:ext cx="1819656" cy="1371600"/>
          </a:xfrm>
          <a:prstGeom prst="ellipse">
            <a:avLst/>
          </a:prstGeom>
          <a:solidFill>
            <a:srgbClr val="FFC000"/>
          </a:solidFill>
          <a:ln w="38100">
            <a:solidFill>
              <a:srgbClr val="FFFFFF"/>
            </a:solidFill>
            <a:prstDash val="solid"/>
          </a:ln>
        </p:spPr>
        <p:txBody>
          <a:bodyPr/>
          <a:lstStyle/>
          <a:p>
            <a:pPr algn="ctr"/>
            <a:r>
              <a:rPr lang="en-IN" sz="1500" dirty="0">
                <a:latin typeface="Lato" panose="020F0502020204030203" pitchFamily="34" charset="0"/>
              </a:rPr>
              <a:t>Interactive AI-Chatbot</a:t>
            </a: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419088" y="1373888"/>
            <a:ext cx="2203704" cy="1371600"/>
          </a:xfrm>
          <a:prstGeom prst="ellipse">
            <a:avLst/>
          </a:prstGeom>
          <a:solidFill>
            <a:srgbClr val="1565C0"/>
          </a:solidFill>
          <a:ln w="38100">
            <a:solidFill>
              <a:srgbClr val="FFFFFF"/>
            </a:solidFill>
            <a:prstDash val="solid"/>
          </a:ln>
        </p:spPr>
        <p:txBody>
          <a:bodyPr/>
          <a:lstStyle/>
          <a:p>
            <a:pPr algn="ctr"/>
            <a:r>
              <a:rPr lang="en-IN" sz="1500" dirty="0">
                <a:solidFill>
                  <a:schemeClr val="bg1"/>
                </a:solidFill>
                <a:latin typeface="Lato" panose="020F0502020204030203" pitchFamily="34" charset="0"/>
              </a:rPr>
              <a:t>Suggestive </a:t>
            </a:r>
          </a:p>
          <a:p>
            <a:pPr algn="ctr"/>
            <a:r>
              <a:rPr lang="en-IN" sz="1500" dirty="0">
                <a:solidFill>
                  <a:schemeClr val="bg1"/>
                </a:solidFill>
                <a:latin typeface="Lato" panose="020F0502020204030203" pitchFamily="34" charset="0"/>
              </a:rPr>
              <a:t>AI-Chatbot</a:t>
            </a: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C3908E58-A42C-456F-A125-95B603DAA18F}"/>
              </a:ext>
            </a:extLst>
          </p:cNvPr>
          <p:cNvPicPr>
            <a:picLocks noChangeAspect="1"/>
          </p:cNvPicPr>
          <p:nvPr/>
        </p:nvPicPr>
        <p:blipFill>
          <a:blip r:embed="rId4"/>
          <a:stretch>
            <a:fillRect/>
          </a:stretch>
        </p:blipFill>
        <p:spPr>
          <a:xfrm>
            <a:off x="237744" y="2196877"/>
            <a:ext cx="2843784" cy="1520745"/>
          </a:xfrm>
          <a:prstGeom prst="rect">
            <a:avLst/>
          </a:prstGeom>
        </p:spPr>
      </p:pic>
      <p:pic>
        <p:nvPicPr>
          <p:cNvPr id="3" name="Picture 2">
            <a:extLst>
              <a:ext uri="{FF2B5EF4-FFF2-40B4-BE49-F238E27FC236}">
                <a16:creationId xmlns:a16="http://schemas.microsoft.com/office/drawing/2014/main" id="{57F6CFAD-1571-4AC9-A4ED-F3D62D8483BB}"/>
              </a:ext>
            </a:extLst>
          </p:cNvPr>
          <p:cNvPicPr>
            <a:picLocks noChangeAspect="1"/>
          </p:cNvPicPr>
          <p:nvPr/>
        </p:nvPicPr>
        <p:blipFill>
          <a:blip r:embed="rId5"/>
          <a:stretch>
            <a:fillRect/>
          </a:stretch>
        </p:blipFill>
        <p:spPr>
          <a:xfrm>
            <a:off x="36576" y="3717622"/>
            <a:ext cx="1460328" cy="1134617"/>
          </a:xfrm>
          <a:prstGeom prst="rect">
            <a:avLst/>
          </a:prstGeom>
        </p:spPr>
      </p:pic>
      <p:pic>
        <p:nvPicPr>
          <p:cNvPr id="5" name="Picture 4">
            <a:extLst>
              <a:ext uri="{FF2B5EF4-FFF2-40B4-BE49-F238E27FC236}">
                <a16:creationId xmlns:a16="http://schemas.microsoft.com/office/drawing/2014/main" id="{4E92AB80-43A5-416D-981A-74D6589EEA8F}"/>
              </a:ext>
            </a:extLst>
          </p:cNvPr>
          <p:cNvPicPr>
            <a:picLocks noChangeAspect="1"/>
          </p:cNvPicPr>
          <p:nvPr/>
        </p:nvPicPr>
        <p:blipFill>
          <a:blip r:embed="rId6"/>
          <a:stretch>
            <a:fillRect/>
          </a:stretch>
        </p:blipFill>
        <p:spPr>
          <a:xfrm>
            <a:off x="1512205" y="3717622"/>
            <a:ext cx="1569323" cy="1135924"/>
          </a:xfrm>
          <a:prstGeom prst="rect">
            <a:avLst/>
          </a:prstGeom>
        </p:spPr>
      </p:pic>
      <p:pic>
        <p:nvPicPr>
          <p:cNvPr id="8" name="Picture 7">
            <a:extLst>
              <a:ext uri="{FF2B5EF4-FFF2-40B4-BE49-F238E27FC236}">
                <a16:creationId xmlns:a16="http://schemas.microsoft.com/office/drawing/2014/main" id="{6306CD42-28BA-4A66-ADC6-2D537A02F6FB}"/>
              </a:ext>
            </a:extLst>
          </p:cNvPr>
          <p:cNvPicPr>
            <a:picLocks noChangeAspect="1"/>
          </p:cNvPicPr>
          <p:nvPr/>
        </p:nvPicPr>
        <p:blipFill>
          <a:blip r:embed="rId7"/>
          <a:stretch>
            <a:fillRect/>
          </a:stretch>
        </p:blipFill>
        <p:spPr>
          <a:xfrm>
            <a:off x="3191940" y="2180422"/>
            <a:ext cx="2833956" cy="2651760"/>
          </a:xfrm>
          <a:prstGeom prst="rect">
            <a:avLst/>
          </a:prstGeom>
        </p:spPr>
      </p:pic>
      <p:pic>
        <p:nvPicPr>
          <p:cNvPr id="22" name="Picture 21">
            <a:extLst>
              <a:ext uri="{FF2B5EF4-FFF2-40B4-BE49-F238E27FC236}">
                <a16:creationId xmlns:a16="http://schemas.microsoft.com/office/drawing/2014/main" id="{1F0B7902-101F-4767-B864-42ABBB22263A}"/>
              </a:ext>
            </a:extLst>
          </p:cNvPr>
          <p:cNvPicPr>
            <a:picLocks noChangeAspect="1"/>
          </p:cNvPicPr>
          <p:nvPr/>
        </p:nvPicPr>
        <p:blipFill>
          <a:blip r:embed="rId8"/>
          <a:stretch>
            <a:fillRect/>
          </a:stretch>
        </p:blipFill>
        <p:spPr>
          <a:xfrm>
            <a:off x="6181344" y="2180422"/>
            <a:ext cx="2772760" cy="2673124"/>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44043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834389"/>
            <a:ext cx="7038639" cy="4087467"/>
          </a:xfrm>
          <a:prstGeom prst="rect">
            <a:avLst/>
          </a:prstGeom>
          <a:noFill/>
          <a:ln/>
        </p:spPr>
        <p:txBody>
          <a:bodyPr wrap="square" rtlCol="0" anchor="t"/>
          <a:lstStyle/>
          <a:p>
            <a:pPr marL="285750" indent="-285750" algn="just">
              <a:buFont typeface="Wingdings" panose="05000000000000000000" pitchFamily="2" charset="2"/>
              <a:buChar char="Ø"/>
            </a:pPr>
            <a:r>
              <a:rPr lang="en-US" sz="1700" b="1" dirty="0"/>
              <a:t>The key findings </a:t>
            </a:r>
            <a:r>
              <a:rPr lang="en-US" sz="1700" dirty="0"/>
              <a:t>of this project is successfully designed &amp; deployed a complete end-to-end Faculty Feedback Analytics System covering data processing, visual intelligence, and AI-powered interaction from raw CSV to live chatbot.</a:t>
            </a:r>
          </a:p>
          <a:p>
            <a:pPr marL="285750" indent="-285750" algn="just">
              <a:buFont typeface="Wingdings" panose="05000000000000000000" pitchFamily="2" charset="2"/>
              <a:buChar char="Ø"/>
            </a:pPr>
            <a:r>
              <a:rPr lang="en-US" sz="1700" b="1" dirty="0"/>
              <a:t>Built an 4-page interactive Excel dashboard </a:t>
            </a:r>
            <a:r>
              <a:rPr lang="en-US" sz="1700" dirty="0"/>
              <a:t>providing visual insights into faculty performance, sentiment trends, comment patterns, and year-on-year and semester-on-semester score for 8 faculties across 3 Programs - </a:t>
            </a:r>
            <a:r>
              <a:rPr lang="en-US" sz="1700" dirty="0" err="1"/>
              <a:t>B.Com</a:t>
            </a:r>
            <a:r>
              <a:rPr lang="en-US" sz="1700" dirty="0"/>
              <a:t>, BBA, and BCA.</a:t>
            </a:r>
          </a:p>
          <a:p>
            <a:pPr marL="285750" indent="-285750" algn="just">
              <a:buFont typeface="Wingdings" panose="05000000000000000000" pitchFamily="2" charset="2"/>
              <a:buChar char="Ø"/>
            </a:pPr>
            <a:r>
              <a:rPr lang="en-US" sz="1700" dirty="0"/>
              <a:t>Developed an </a:t>
            </a:r>
            <a:r>
              <a:rPr lang="en-US" sz="1700" b="1" dirty="0"/>
              <a:t>AI chatbot agent </a:t>
            </a:r>
            <a:r>
              <a:rPr lang="en-US" sz="1700" dirty="0"/>
              <a:t>on Microsoft Copilot Studio capable of </a:t>
            </a:r>
            <a:r>
              <a:rPr lang="en-US" sz="1700" b="1" dirty="0"/>
              <a:t>answering both quantitative and qualitative feedback queries </a:t>
            </a:r>
            <a:r>
              <a:rPr lang="en-US" sz="1700" dirty="0"/>
              <a:t>in plain English, accessible to all stakeholders without any technical knowledge.</a:t>
            </a:r>
          </a:p>
          <a:p>
            <a:pPr marL="285750" indent="-285750" algn="just">
              <a:buFont typeface="Wingdings" panose="05000000000000000000" pitchFamily="2" charset="2"/>
              <a:buChar char="Ø"/>
            </a:pPr>
            <a:r>
              <a:rPr lang="en-US" sz="1700" dirty="0"/>
              <a:t>Created the </a:t>
            </a:r>
            <a:r>
              <a:rPr lang="en-US" sz="1700" b="1" dirty="0"/>
              <a:t>first-ever faculty coaching </a:t>
            </a:r>
            <a:r>
              <a:rPr lang="en-US" sz="1700" dirty="0"/>
              <a:t>module embedded within a feedback system – that is – the bot will identifying 6 weak teaching dimensions and deliver personalized, evidence-based improvement strategies to faculty and also help with 30-days strategy plan development.</a:t>
            </a: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6910462" y="1241894"/>
            <a:ext cx="2340773" cy="2153313"/>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6" y="44070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6" y="879613"/>
            <a:ext cx="6770535" cy="3677211"/>
          </a:xfrm>
          <a:prstGeom prst="rect">
            <a:avLst/>
          </a:prstGeom>
          <a:noFill/>
          <a:ln/>
        </p:spPr>
        <p:txBody>
          <a:bodyPr wrap="square" rtlCol="0" anchor="t"/>
          <a:lstStyle/>
          <a:p>
            <a:pPr marL="285750" indent="-285750" algn="just">
              <a:buFont typeface="Wingdings" panose="05000000000000000000" pitchFamily="2" charset="2"/>
              <a:buChar char="Ø"/>
            </a:pPr>
            <a:r>
              <a:rPr lang="en-US" sz="1700" b="1" dirty="0"/>
              <a:t>Real-time feedback Integration: </a:t>
            </a:r>
            <a:r>
              <a:rPr lang="en-US" sz="1700" dirty="0"/>
              <a:t>Connect the system to a live Google Form or Microsoft Form so </a:t>
            </a:r>
            <a:r>
              <a:rPr lang="en-US" sz="1700" b="1" i="1" u="sng" dirty="0"/>
              <a:t>student responses feed directly into the Excel Dashboard and /or Power BI dashboard </a:t>
            </a:r>
            <a:r>
              <a:rPr lang="en-US" sz="1700" dirty="0"/>
              <a:t>and chatbot without any manual CSV export.</a:t>
            </a:r>
          </a:p>
          <a:p>
            <a:pPr marL="285750" indent="-285750" algn="just">
              <a:buFont typeface="Wingdings" panose="05000000000000000000" pitchFamily="2" charset="2"/>
              <a:buChar char="Ø"/>
            </a:pPr>
            <a:r>
              <a:rPr lang="en-US" sz="1700" b="1" dirty="0"/>
              <a:t>Multilingual chatbot support: </a:t>
            </a:r>
            <a:r>
              <a:rPr lang="en-US" sz="1700" dirty="0"/>
              <a:t>Extend the AI agent to accept and respond in </a:t>
            </a:r>
            <a:r>
              <a:rPr lang="en-US" sz="1700" b="1" i="1" u="sng" dirty="0"/>
              <a:t>regional languages: Hindi, Gujarati, etc. </a:t>
            </a:r>
            <a:r>
              <a:rPr lang="en-US" sz="1700" dirty="0"/>
              <a:t>making it accessible to a broader range of faculty and students across institutions.</a:t>
            </a:r>
          </a:p>
          <a:p>
            <a:pPr marL="285750" indent="-285750" algn="just">
              <a:buFont typeface="Wingdings" panose="05000000000000000000" pitchFamily="2" charset="2"/>
              <a:buChar char="Ø"/>
            </a:pPr>
            <a:r>
              <a:rPr lang="en-US" sz="1700" b="1" dirty="0"/>
              <a:t>Predictive analytics layer: </a:t>
            </a:r>
            <a:r>
              <a:rPr lang="en-US" sz="1700" dirty="0"/>
              <a:t>Use historical semester data to build a </a:t>
            </a:r>
            <a:r>
              <a:rPr lang="en-US" sz="1700" b="1" i="1" u="sng" dirty="0"/>
              <a:t>ML model that predicts which faculty are at risk of score decline </a:t>
            </a:r>
            <a:r>
              <a:rPr lang="en-US" sz="1700" dirty="0"/>
              <a:t>in the next semester enabling proactive intervention before results drop.</a:t>
            </a:r>
          </a:p>
          <a:p>
            <a:pPr marL="285750" indent="-285750" algn="just">
              <a:buFont typeface="Wingdings" panose="05000000000000000000" pitchFamily="2" charset="2"/>
              <a:buChar char="Ø"/>
            </a:pPr>
            <a:r>
              <a:rPr lang="en-US" sz="1700" b="1" dirty="0"/>
              <a:t>Voice-enabled chatbot: </a:t>
            </a:r>
            <a:r>
              <a:rPr lang="en-US" sz="1700" dirty="0"/>
              <a:t>Integrate </a:t>
            </a:r>
            <a:r>
              <a:rPr lang="en-US" sz="1700" b="1" i="1" u="sng" dirty="0"/>
              <a:t>speech-to-text so faculty can verbally ask feedback questions </a:t>
            </a:r>
            <a:r>
              <a:rPr lang="en-US" sz="1700" dirty="0"/>
              <a:t>making the system hands-free and accessible on mobile devices</a:t>
            </a: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3430" y="879613"/>
            <a:ext cx="2410570" cy="1807928"/>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1554</TotalTime>
  <Words>1077</Words>
  <Application>Microsoft Office PowerPoint</Application>
  <PresentationFormat>On-screen Show (16:9)</PresentationFormat>
  <Paragraphs>86</Paragraphs>
  <Slides>11</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Aileron</vt:lpstr>
      <vt:lpstr>Aileron Bold</vt:lpstr>
      <vt:lpstr>Aileron Ultra-Bold</vt:lpstr>
      <vt:lpstr>Arial</vt:lpstr>
      <vt:lpstr>Calibri</vt:lpstr>
      <vt:lpstr>Calibri Light</vt:lpstr>
      <vt:lpstr>Lato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Admin</cp:lastModifiedBy>
  <cp:revision>147</cp:revision>
  <dcterms:created xsi:type="dcterms:W3CDTF">2026-02-18T09:17:23Z</dcterms:created>
  <dcterms:modified xsi:type="dcterms:W3CDTF">2026-04-15T16:52:43Z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