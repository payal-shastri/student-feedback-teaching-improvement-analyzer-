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6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84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88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4588318" y="4469523"/>
            <a:ext cx="1633432" cy="1542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 Faculty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4597862" y="4588166"/>
            <a:ext cx="1394175" cy="22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Dr. </a:t>
            </a:r>
            <a:r>
              <a:rPr lang="en-US" sz="1200" b="1" dirty="0" err="1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Payal</a:t>
            </a: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 Shastri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4170640" y="4446217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1934452" y="4484301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1880497" y="4592302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payal.shastri@hlcollege.edu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1409536" y="4432566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499781" y="4452447"/>
            <a:ext cx="1229735" cy="376162"/>
            <a:chOff x="2473072" y="4428684"/>
            <a:chExt cx="2272871" cy="348941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2474369" y="4428684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2473072" y="4550190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Adarsh Sir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8109" t="6546" r="28551" b="49509"/>
          <a:stretch>
            <a:fillRect/>
          </a:stretch>
        </p:blipFill>
        <p:spPr>
          <a:xfrm>
            <a:off x="106641" y="4421347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9729"/>
          <a:stretch>
            <a:fillRect/>
          </a:stretch>
        </p:blipFill>
        <p:spPr>
          <a:xfrm>
            <a:off x="199484" y="1028363"/>
            <a:ext cx="3854253" cy="1849530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81DED0E-8121-4A62-5E99-A69B8B50A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554260"/>
              </p:ext>
            </p:extLst>
          </p:nvPr>
        </p:nvGraphicFramePr>
        <p:xfrm>
          <a:off x="47412" y="3529012"/>
          <a:ext cx="6491078" cy="6488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491078">
                  <a:extLst>
                    <a:ext uri="{9D8B030D-6E8A-4147-A177-3AD203B41FA5}">
                      <a16:colId xmlns:a16="http://schemas.microsoft.com/office/drawing/2014/main" val="3438802165"/>
                    </a:ext>
                  </a:extLst>
                </a:gridCol>
              </a:tblGrid>
              <a:tr h="648808">
                <a:tc>
                  <a:txBody>
                    <a:bodyPr/>
                    <a:lstStyle/>
                    <a:p>
                      <a:r>
                        <a:rPr lang="en-IN" sz="1400" b="1" kern="1200" dirty="0">
                          <a:solidFill>
                            <a:srgbClr val="0D358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Title: </a:t>
                      </a:r>
                      <a:r>
                        <a:rPr lang="en-IN" sz="1400" b="1" u="sng" kern="1200" dirty="0">
                          <a:solidFill>
                            <a:srgbClr val="FFC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Closing the Feedback Loop: </a:t>
                      </a:r>
                      <a:r>
                        <a:rPr lang="en-US" sz="1400" b="1" u="sng" kern="1200" dirty="0">
                          <a:solidFill>
                            <a:srgbClr val="FFC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An Intelligent Student </a:t>
                      </a:r>
                    </a:p>
                    <a:p>
                      <a:r>
                        <a:rPr lang="en-US" sz="1400" b="1" u="sng" kern="1200" dirty="0">
                          <a:solidFill>
                            <a:srgbClr val="FFC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Feedback Analyzer &amp; Teaching Improvement Advisor</a:t>
                      </a:r>
                      <a:r>
                        <a:rPr lang="en-US" sz="1400" b="1" u="none" kern="1200" dirty="0">
                          <a:solidFill>
                            <a:srgbClr val="FFC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N" sz="1400" b="1" u="sng" kern="12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(Let’s Call it “IXA”)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39530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3A8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b="1" dirty="0">
                <a:solidFill>
                  <a:schemeClr val="tx1"/>
                </a:solidFill>
                <a:effectLst/>
                <a:latin typeface="+mj-lt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b="1" dirty="0">
              <a:solidFill>
                <a:schemeClr val="tx1"/>
              </a:solidFill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b="1" dirty="0">
                <a:latin typeface="+mj-lt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b="1" dirty="0">
                <a:latin typeface="+mj-lt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b="1" dirty="0">
                <a:latin typeface="+mj-lt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b="1" dirty="0">
                <a:latin typeface="+mj-lt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b="1" dirty="0">
                <a:latin typeface="+mj-lt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b="1" dirty="0">
                <a:latin typeface="+mj-lt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b="1" dirty="0">
                <a:latin typeface="+mj-lt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3A8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6597650" y="1534620"/>
            <a:ext cx="2603120" cy="2708149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24AA35-5CBC-4CE6-B091-91736225AC9D}"/>
              </a:ext>
            </a:extLst>
          </p:cNvPr>
          <p:cNvSpPr/>
          <p:nvPr/>
        </p:nvSpPr>
        <p:spPr>
          <a:xfrm>
            <a:off x="140079" y="1035778"/>
            <a:ext cx="645757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i="1" u="sng" dirty="0"/>
              <a:t>End-to-end Faculty Feedback and Analytics System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en-US" sz="5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Data: </a:t>
            </a:r>
            <a:r>
              <a:rPr lang="en-US" altLang="en-US" dirty="0"/>
              <a:t>200 responses | 8 faculty | 3 courses | 10 parameters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en-US" sz="5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Objective: </a:t>
            </a:r>
            <a:r>
              <a:rPr lang="en-US" altLang="en-US" dirty="0"/>
              <a:t>Convert raw feedback into actionable academic insights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en-US" sz="5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Approach: </a:t>
            </a:r>
            <a:r>
              <a:rPr lang="en-US" altLang="en-US" dirty="0"/>
              <a:t>Data analytics + AI-driven interaction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en-US" sz="5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Tools: </a:t>
            </a:r>
            <a:r>
              <a:rPr lang="en-US" altLang="en-US" dirty="0"/>
              <a:t>Excel dashboards + Copilot Studio chatbot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en-US" sz="5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Outcomes: </a:t>
            </a:r>
            <a:r>
              <a:rPr lang="en-US" altLang="en-US" dirty="0"/>
              <a:t>Interactive insights, plain-language query responses, personalized faculty improvement plans (up to 30 days)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altLang="en-US" sz="5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en-US" b="1" dirty="0"/>
              <a:t>Highlight: </a:t>
            </a:r>
            <a:r>
              <a:rPr lang="en-US" altLang="en-US" dirty="0"/>
              <a:t>Integrated Excel + AI smart architecture 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715" y="873760"/>
            <a:ext cx="2411834" cy="3499457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4348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55679" y="837329"/>
            <a:ext cx="669698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Core Problem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Feedback data scattered &amp; underutilized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Qualitative comments ignored at scale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No tools to extract meaningful insights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Excel-based storage with no visualization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No linkage to faculty improvement planning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Why It Matters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Weak faculty unsupported; strong faculty unrecognized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Teaching quality stagnates across semesters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Impact Gaps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HODs &amp; Management: Dimension-wise faculty feedback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Admin: Data-backed evidence for submitting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Accreditation Bodies: Transparency and detailed structured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Faculties: Feedback as well as Analyzer for Improvements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6058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568" y="564825"/>
            <a:ext cx="2353946" cy="2017668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17534" y="46889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17533" y="834390"/>
            <a:ext cx="7070445" cy="40061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2500" b="1" dirty="0"/>
              <a:t>THE SOLUTION: </a:t>
            </a:r>
          </a:p>
          <a:p>
            <a:pPr algn="just"/>
            <a:r>
              <a:rPr lang="en-US" sz="2500" b="1" dirty="0"/>
              <a:t>INTELLIGENT THREE-TIER ANALYSTICS SYSTEM </a:t>
            </a:r>
          </a:p>
          <a:p>
            <a:pPr algn="just"/>
            <a:endParaRPr lang="en-US" sz="1000" b="1" dirty="0"/>
          </a:p>
          <a:p>
            <a:pPr algn="just"/>
            <a:r>
              <a:rPr lang="en-US" b="1" dirty="0"/>
              <a:t>Tier 1 – Excel Analytics: </a:t>
            </a:r>
            <a:r>
              <a:rPr lang="en-US" dirty="0"/>
              <a:t>Pre-processed dataset for faculty performance matrix, course-wise scores, year-wise and semester-wise comparison tables with delta indicators</a:t>
            </a:r>
          </a:p>
          <a:p>
            <a:pPr algn="just"/>
            <a:r>
              <a:rPr lang="en-US" b="1" dirty="0"/>
              <a:t>Tier 2 </a:t>
            </a:r>
            <a:r>
              <a:rPr lang="en-US" dirty="0"/>
              <a:t>- </a:t>
            </a:r>
            <a:r>
              <a:rPr lang="en-US" b="1" dirty="0"/>
              <a:t>AI Chatbot (Copilot Studio): INFORMATION MODULE – </a:t>
            </a:r>
            <a:r>
              <a:rPr lang="en-US" dirty="0"/>
              <a:t>Natural language agent trained to answer both quantitative queries (scores, rankings) and qualitative queries (comment summaries, sentiment breakdowns).</a:t>
            </a:r>
          </a:p>
          <a:p>
            <a:pPr algn="just"/>
            <a:r>
              <a:rPr lang="en-US" b="1" dirty="0"/>
              <a:t>Tier 3 - AI Chatbot (Copilot Studio) – COACHING MODULE: </a:t>
            </a:r>
            <a:r>
              <a:rPr lang="en-US" dirty="0"/>
              <a:t>The bot after highlighting weak areas, automatically asks for improvements suggestions and delivers specific, classroom-ready improvement strategies extended for 30 days.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IN" sz="1300" dirty="0"/>
              <a:t>200 student feedback responses (CSV), Excel workbook –10 quantitative score, Qualitative student comments with sentiment labels, faculty name, type of faculty, type of courses - </a:t>
            </a:r>
            <a:r>
              <a:rPr lang="en-IN" sz="1300" dirty="0" err="1"/>
              <a:t>B.Com</a:t>
            </a:r>
            <a:r>
              <a:rPr lang="en-IN" sz="1300" dirty="0"/>
              <a:t>, BBA, BCA, two years, and four semester.	</a:t>
            </a: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IN" sz="1300" dirty="0"/>
              <a:t>Data cleaning and Custom column: </a:t>
            </a:r>
            <a:r>
              <a:rPr lang="en-IN" sz="1300" dirty="0" err="1"/>
              <a:t>Average_Score</a:t>
            </a:r>
            <a:r>
              <a:rPr lang="en-IN" sz="1300" dirty="0"/>
              <a:t> across all 10 dimensions; Sentiment classification: Positive / Negative tagging; Comment categorisation across 13 categories and all dimensions; Year-wise and semester-wise delta calculations (</a:t>
            </a:r>
            <a:r>
              <a:rPr lang="el-GR" sz="1300" dirty="0"/>
              <a:t>Δ </a:t>
            </a:r>
            <a:r>
              <a:rPr lang="en-IN" sz="1300" dirty="0"/>
              <a:t>scores) for comparison.</a:t>
            </a: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IN" sz="1300" dirty="0"/>
              <a:t>Microsoft Excel - interactive dashboard; Microsoft Co-pilot Studio - AI conversational agent</a:t>
            </a:r>
          </a:p>
          <a:p>
            <a:pPr algn="just"/>
            <a:r>
              <a:rPr lang="en-IN" sz="1300" dirty="0"/>
              <a:t>3 CSV knowledge sources uploaded to Co-pilot Studio</a:t>
            </a:r>
          </a:p>
          <a:p>
            <a:pPr algn="just"/>
            <a:r>
              <a:rPr lang="en-IN" sz="1300" dirty="0"/>
              <a:t>for creating Coaching layer: weak area detection + suggestion engine.</a:t>
            </a: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415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IN" sz="1300" dirty="0"/>
              <a:t>AI Chatbot: natural language answers to any feedback query.</a:t>
            </a:r>
          </a:p>
          <a:p>
            <a:pPr algn="just"/>
            <a:r>
              <a:rPr lang="en-IN" sz="1300" dirty="0"/>
              <a:t>Faculty coaching: personalised 30-day improvement plans.</a:t>
            </a:r>
          </a:p>
          <a:p>
            <a:pPr algn="just"/>
            <a:r>
              <a:rPr lang="en-IN" sz="1300" dirty="0"/>
              <a:t>Export: PDF snapshots + Power BI Service shareable link</a:t>
            </a:r>
          </a:p>
          <a:p>
            <a:pPr algn="just"/>
            <a:r>
              <a:rPr lang="en-IN" sz="1300" dirty="0"/>
              <a:t>Audience: faculty, admin, students, external stakeholders</a:t>
            </a:r>
          </a:p>
          <a:p>
            <a:pPr algn="just"/>
            <a:br>
              <a:rPr lang="en-IN" sz="1300" dirty="0"/>
            </a:br>
            <a:endParaRPr lang="en-US" sz="13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6033" y="1373888"/>
            <a:ext cx="2105361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Lato" panose="020F0502020204030203" pitchFamily="34" charset="0"/>
              </a:rPr>
              <a:t>Excel Dashboard</a:t>
            </a: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7"/>
            <a:ext cx="2514600" cy="1928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03320" y="1372087"/>
            <a:ext cx="1819656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/>
            <a:r>
              <a:rPr lang="en-IN" sz="1500" dirty="0">
                <a:latin typeface="Lato" panose="020F0502020204030203" pitchFamily="34" charset="0"/>
              </a:rPr>
              <a:t>Interactive AI-Chatbot</a:t>
            </a: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19088" y="1373888"/>
            <a:ext cx="2203704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/>
            <a:r>
              <a:rPr lang="en-IN" sz="1500" dirty="0">
                <a:solidFill>
                  <a:schemeClr val="bg1"/>
                </a:solidFill>
                <a:latin typeface="Lato" panose="020F0502020204030203" pitchFamily="34" charset="0"/>
              </a:rPr>
              <a:t>Suggestive </a:t>
            </a:r>
          </a:p>
          <a:p>
            <a:pPr algn="ctr"/>
            <a:r>
              <a:rPr lang="en-IN" sz="1500" dirty="0">
                <a:solidFill>
                  <a:schemeClr val="bg1"/>
                </a:solidFill>
                <a:latin typeface="Lato" panose="020F0502020204030203" pitchFamily="34" charset="0"/>
              </a:rPr>
              <a:t>AI-Chatbot</a:t>
            </a: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908E58-A42C-456F-A125-95B603DAA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2196877"/>
            <a:ext cx="2843784" cy="15207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F6CFAD-1571-4AC9-A4ED-F3D62D8483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" y="3717622"/>
            <a:ext cx="1460328" cy="1134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92AB80-43A5-416D-981A-74D6589EEA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2205" y="3717622"/>
            <a:ext cx="1569323" cy="11359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06CD42-28BA-4A66-ADC6-2D537A02F6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1940" y="2180422"/>
            <a:ext cx="2833956" cy="26517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F0B7902-101F-4767-B864-42ABBB2226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344" y="2180422"/>
            <a:ext cx="2772760" cy="267312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34298" y="768096"/>
            <a:ext cx="6201083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[https://your-project-dehttps://drive.google.com/drive/u/0/folders/1pug4VwyevA-ifJPqKeYiVGvgt9WsZvAEmo-link.com]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44043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834389"/>
            <a:ext cx="7038639" cy="40874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700" b="1" dirty="0"/>
              <a:t>The key findings </a:t>
            </a:r>
            <a:r>
              <a:rPr lang="en-US" sz="1700" dirty="0"/>
              <a:t>of this project is successfully designed &amp; deployed a complete end-to-end Faculty Feedback Analytics System.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7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700" b="1" dirty="0"/>
              <a:t>Excel dashboard </a:t>
            </a:r>
            <a:r>
              <a:rPr lang="en-US" sz="1700" dirty="0"/>
              <a:t>with visual insights of </a:t>
            </a:r>
            <a:r>
              <a:rPr lang="en-US" sz="1700" b="1" dirty="0"/>
              <a:t>faculty performance – QUALITATIVE AND QUANTITATIVE PATTERS</a:t>
            </a:r>
            <a:r>
              <a:rPr lang="en-US" sz="1700" dirty="0"/>
              <a:t>, across the all semesters and years for all faculties and all courses.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7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700" b="1" dirty="0"/>
              <a:t>AI chatbot agent – answering questions seamlessly for both quantitative &amp; qualitative feedback queries </a:t>
            </a:r>
            <a:r>
              <a:rPr lang="en-US" sz="1700" dirty="0"/>
              <a:t>in plain English, </a:t>
            </a:r>
            <a:r>
              <a:rPr lang="en-US" sz="1700" b="1" dirty="0"/>
              <a:t>FOR ALL STAKEHOLDERS </a:t>
            </a:r>
            <a:r>
              <a:rPr lang="en-US" sz="1700" b="1" u="sng" dirty="0"/>
              <a:t>with or without any technical knowledge</a:t>
            </a:r>
            <a:r>
              <a:rPr lang="en-US" sz="170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700" b="1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700" b="1" dirty="0"/>
              <a:t>First-ever faculty coaching module – </a:t>
            </a:r>
            <a:r>
              <a:rPr lang="en-US" sz="1700" dirty="0"/>
              <a:t>giving feedback identifying weak dimensions and </a:t>
            </a:r>
            <a:r>
              <a:rPr lang="en-US" sz="1700" b="1" dirty="0"/>
              <a:t>delivering personalized, evidence-based improvement strategies </a:t>
            </a:r>
            <a:r>
              <a:rPr lang="en-US" sz="1700" dirty="0"/>
              <a:t>to faculty and </a:t>
            </a:r>
            <a:r>
              <a:rPr lang="en-US" sz="1700" b="1" dirty="0"/>
              <a:t>also help with 30-days strategy plan development</a:t>
            </a:r>
            <a:r>
              <a:rPr lang="en-US" sz="1700" dirty="0"/>
              <a:t>.</a:t>
            </a: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6910462" y="1241894"/>
            <a:ext cx="2340773" cy="215331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6" y="44070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6" y="879613"/>
            <a:ext cx="6712983" cy="36772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700" b="1" dirty="0"/>
              <a:t>Real-time feedback Integration: </a:t>
            </a:r>
            <a:r>
              <a:rPr lang="en-US" sz="1700" dirty="0"/>
              <a:t>Connecting live Google or Microsoft Form </a:t>
            </a:r>
            <a:r>
              <a:rPr lang="en-US" sz="1700" b="1" i="1" u="sng" dirty="0"/>
              <a:t>directly into the Excel Dashboard and /or Power BI dashboard </a:t>
            </a:r>
            <a:r>
              <a:rPr lang="en-US" sz="1700" dirty="0"/>
              <a:t>and chatbot without any manual CSV export.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7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700" b="1" dirty="0"/>
              <a:t>Multilingual chatbot support: </a:t>
            </a:r>
            <a:r>
              <a:rPr lang="en-US" sz="1700" dirty="0"/>
              <a:t>AI agent to accept and respond in </a:t>
            </a:r>
            <a:r>
              <a:rPr lang="en-US" sz="1700" b="1" i="1" u="sng" dirty="0"/>
              <a:t>regional languages: Hindi, Gujarati, etc.</a:t>
            </a:r>
            <a:r>
              <a:rPr lang="en-US" sz="1700" b="1" i="1" dirty="0"/>
              <a:t> </a:t>
            </a:r>
            <a:r>
              <a:rPr lang="en-US" sz="1700" dirty="0"/>
              <a:t>making it accessible to a broader range of stakeholders across institutions.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7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700" b="1" dirty="0"/>
              <a:t>Predictive analytics layer: </a:t>
            </a:r>
            <a:r>
              <a:rPr lang="en-US" sz="1700" dirty="0"/>
              <a:t>Using historical data to build a </a:t>
            </a:r>
            <a:r>
              <a:rPr lang="en-US" sz="1700" b="1" i="1" u="sng" dirty="0"/>
              <a:t>ML model that predicts which faculty are at risk of score decline</a:t>
            </a:r>
            <a:r>
              <a:rPr lang="en-US" sz="1700" b="1" i="1" dirty="0"/>
              <a:t> </a:t>
            </a:r>
            <a:r>
              <a:rPr lang="en-US" sz="1700" dirty="0"/>
              <a:t>in the next semester </a:t>
            </a:r>
            <a:r>
              <a:rPr lang="en-US" sz="1700" b="1" i="1" u="sng" dirty="0"/>
              <a:t>enabling proactive intervention before results drop</a:t>
            </a:r>
            <a:r>
              <a:rPr lang="en-US" sz="170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7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700" b="1" dirty="0"/>
              <a:t>Voice-enabled chatbot: </a:t>
            </a:r>
            <a:r>
              <a:rPr lang="en-US" sz="1700" b="1" i="1" u="sng" dirty="0"/>
              <a:t>Speech-to-text so faculty can verbally ask feedback questions</a:t>
            </a:r>
            <a:r>
              <a:rPr lang="en-US" sz="1700" b="1" i="1" dirty="0"/>
              <a:t> </a:t>
            </a:r>
            <a:r>
              <a:rPr lang="en-US" sz="1700" dirty="0"/>
              <a:t>– for hands-free and accessible on mobile devices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3430" y="879613"/>
            <a:ext cx="2410570" cy="180792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154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kern="0" spc="200" dirty="0"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677194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98296" y="1290518"/>
            <a:ext cx="3878036" cy="15585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Any Questions?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1717</TotalTime>
  <Words>827</Words>
  <Application>Microsoft Office PowerPoint</Application>
  <PresentationFormat>On-screen Show (16:9)</PresentationFormat>
  <Paragraphs>116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Aileron</vt:lpstr>
      <vt:lpstr>Aileron Bold</vt:lpstr>
      <vt:lpstr>Aileron Ultra-Bold</vt:lpstr>
      <vt:lpstr>Arial</vt:lpstr>
      <vt:lpstr>Calibri</vt:lpstr>
      <vt:lpstr>Calibri Light</vt:lpstr>
      <vt:lpstr>Lato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Admin</cp:lastModifiedBy>
  <cp:revision>171</cp:revision>
  <dcterms:created xsi:type="dcterms:W3CDTF">2026-02-18T09:17:23Z</dcterms:created>
  <dcterms:modified xsi:type="dcterms:W3CDTF">2026-04-23T15:27:58Z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